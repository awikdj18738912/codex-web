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3840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870CD"/>
                </a:solidFill>
                <a:latin typeface="Noto Sans CJK SC"/>
              </a:rPr>
              <a:t>AGENTICASR · 项目进展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6070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93052"/>
                </a:solidFill>
                <a:latin typeface="Noto Sans CJK SC"/>
              </a:rPr>
              <a:t>相对于原始 AgenticASR 的系统改进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241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16E80"/>
                </a:solidFill>
                <a:latin typeface="Noto Sans CJK SC"/>
              </a:rPr>
              <a:t>从“流式精修原型”扩展为“可控、可审计的 GPU 服务系统”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54480"/>
            <a:ext cx="11018520" cy="22860"/>
          </a:xfrm>
          <a:prstGeom prst="rect">
            <a:avLst/>
          </a:prstGeom>
          <a:solidFill>
            <a:srgbClr val="2870CD"/>
          </a:solidFill>
          <a:ln>
            <a:solidFill>
              <a:srgbClr val="287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16E80"/>
                </a:solidFill>
                <a:latin typeface="Noto Sans CJK SC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1874519"/>
            <a:ext cx="297180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1874519"/>
            <a:ext cx="2971800" cy="54864"/>
          </a:xfrm>
          <a:prstGeom prst="rect">
            <a:avLst/>
          </a:prstGeom>
          <a:solidFill>
            <a:srgbClr val="616E80"/>
          </a:solidFill>
          <a:ln>
            <a:solidFill>
              <a:srgbClr val="616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039112"/>
            <a:ext cx="264261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Noto Sans CJK SC"/>
              </a:rPr>
              <a:t>原始 AgenticASR 基线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2542032"/>
            <a:ext cx="2240280" cy="283464"/>
          </a:xfrm>
          <a:prstGeom prst="roundRect">
            <a:avLst>
              <a:gd name="adj" fmla="val 12000"/>
            </a:avLst>
          </a:prstGeom>
          <a:solidFill>
            <a:srgbClr val="F1F3F7"/>
          </a:solidFill>
          <a:ln>
            <a:solidFill>
              <a:srgbClr val="F1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551175"/>
            <a:ext cx="2240280" cy="23774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616E80"/>
                </a:solidFill>
                <a:latin typeface="Noto Sans CJK SC"/>
              </a:rPr>
              <a:t>VAD → ASR → K=3 Refiner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017520"/>
            <a:ext cx="2578608" cy="1783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96"/>
              </a:spcAft>
              <a:defRPr sz="1220">
                <a:solidFill>
                  <a:srgbClr val="222B39"/>
                </a:solidFill>
                <a:latin typeface="Noto Sans CJK SC"/>
              </a:defRPr>
            </a:pPr>
            <a:r>
              <a:t>• 主要链路：VAD、sherpa-onnx 在线 ASR、ChunkManager、滑动窗口 Refiner。</a:t>
            </a:r>
          </a:p>
          <a:p>
            <a:pPr>
              <a:lnSpc>
                <a:spcPct val="105000"/>
              </a:lnSpc>
              <a:spcAft>
                <a:spcPts val="96"/>
              </a:spcAft>
              <a:defRPr sz="1220">
                <a:solidFill>
                  <a:srgbClr val="222B39"/>
                </a:solidFill>
                <a:latin typeface="Noto Sans CJK SC"/>
              </a:defRPr>
            </a:pPr>
            <a:r>
              <a:t>• 重点解决口语清理、自我修正和书面化表达。</a:t>
            </a:r>
          </a:p>
          <a:p>
            <a:pPr>
              <a:lnSpc>
                <a:spcPct val="105000"/>
              </a:lnSpc>
              <a:spcAft>
                <a:spcPts val="96"/>
              </a:spcAft>
              <a:defRPr sz="1220">
                <a:solidFill>
                  <a:srgbClr val="222B39"/>
                </a:solidFill>
                <a:latin typeface="Noto Sans CJK SC"/>
              </a:defRPr>
            </a:pPr>
            <a:r>
              <a:t>• 原版已经关注术语与实体，但主要通过提示词和训练数据表达。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5065776"/>
            <a:ext cx="2240280" cy="640080"/>
          </a:xfrm>
          <a:prstGeom prst="roundRect">
            <a:avLst>
              <a:gd name="adj" fmla="val 12000"/>
            </a:avLst>
          </a:prstGeom>
          <a:solidFill>
            <a:srgbClr val="F9FAFC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93792"/>
            <a:ext cx="193852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93052"/>
                </a:solidFill>
                <a:latin typeface="Noto Sans CJK SC"/>
              </a:rPr>
              <a:t>当前改造的重点：
把模型能力下沉为可验证的运行时管线。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67328" y="1874519"/>
            <a:ext cx="7827264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328" y="1874519"/>
            <a:ext cx="7827264" cy="54864"/>
          </a:xfrm>
          <a:prstGeom prst="rect">
            <a:avLst/>
          </a:prstGeom>
          <a:solidFill>
            <a:srgbClr val="2870CD"/>
          </a:solidFill>
          <a:ln>
            <a:solidFill>
              <a:srgbClr val="287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2039112"/>
            <a:ext cx="7498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Noto Sans CJK SC"/>
              </a:rPr>
              <a:t>当前版本新增能力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368296"/>
            <a:ext cx="7498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16E80"/>
                </a:solidFill>
                <a:latin typeface="Noto Sans CJK SC"/>
              </a:rPr>
              <a:t>四个方向：实体保护、服务扩展、精修控制、安全校验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86784" y="2651760"/>
            <a:ext cx="3511296" cy="1234440"/>
          </a:xfrm>
          <a:prstGeom prst="roundRect">
            <a:avLst>
              <a:gd name="adj" fmla="val 12000"/>
            </a:avLst>
          </a:prstGeom>
          <a:solidFill>
            <a:srgbClr val="EDF5FF"/>
          </a:solidFill>
          <a:ln>
            <a:solidFill>
              <a:srgbClr val="ED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33088" y="2770632"/>
            <a:ext cx="32186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2870CD"/>
                </a:solidFill>
                <a:latin typeface="Noto Sans CJK SC"/>
              </a:rPr>
              <a:t>实体 / 术语保护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23944" y="3035808"/>
            <a:ext cx="3236976" cy="7955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91000"/>
              </a:lnSpc>
              <a:spcAft>
                <a:spcPts val="12"/>
              </a:spcAft>
              <a:defRPr sz="919">
                <a:solidFill>
                  <a:srgbClr val="222B39"/>
                </a:solidFill>
                <a:latin typeface="Noto Sans CJK SC"/>
              </a:defRPr>
            </a:pPr>
            <a:r>
              <a:t>• SQLite 实体库、标准名、别名和领域管理</a:t>
            </a:r>
          </a:p>
          <a:p>
            <a:pPr>
              <a:lnSpc>
                <a:spcPct val="91000"/>
              </a:lnSpc>
              <a:spcAft>
                <a:spcPts val="12"/>
              </a:spcAft>
              <a:defRPr sz="919">
                <a:solidFill>
                  <a:srgbClr val="222B39"/>
                </a:solidFill>
                <a:latin typeface="Noto Sans CJK SC"/>
              </a:defRPr>
            </a:pPr>
            <a:r>
              <a:t>• 精确/受控模糊匹配 → 占位保护 → 恢复校验</a:t>
            </a:r>
          </a:p>
          <a:p>
            <a:pPr>
              <a:lnSpc>
                <a:spcPct val="91000"/>
              </a:lnSpc>
              <a:spcAft>
                <a:spcPts val="12"/>
              </a:spcAft>
              <a:defRPr sz="919">
                <a:solidFill>
                  <a:srgbClr val="222B39"/>
                </a:solidFill>
                <a:latin typeface="Noto Sans CJK SC"/>
              </a:defRPr>
            </a:pPr>
            <a:r>
              <a:t>• 降低人名、地名、作品名被改写的风险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44383" y="2651760"/>
            <a:ext cx="3730752" cy="1234440"/>
          </a:xfrm>
          <a:prstGeom prst="roundRect">
            <a:avLst>
              <a:gd name="adj" fmla="val 12000"/>
            </a:avLst>
          </a:prstGeom>
          <a:solidFill>
            <a:srgbClr val="EBF9F7"/>
          </a:solidFill>
          <a:ln>
            <a:solidFill>
              <a:srgbClr val="EBF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770632"/>
            <a:ext cx="343814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A948B"/>
                </a:solidFill>
                <a:latin typeface="Noto Sans CJK SC"/>
              </a:rPr>
              <a:t>ASR 与服务架构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1544" y="3035808"/>
            <a:ext cx="3456432" cy="7955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91000"/>
              </a:lnSpc>
              <a:spcAft>
                <a:spcPts val="12"/>
              </a:spcAft>
              <a:defRPr sz="919">
                <a:solidFill>
                  <a:srgbClr val="222B39"/>
                </a:solidFill>
                <a:latin typeface="Noto Sans CJK SC"/>
              </a:defRPr>
            </a:pPr>
            <a:r>
              <a:t>• 扩展 Qwen3-ASR GPU + Transformer Refiner</a:t>
            </a:r>
          </a:p>
          <a:p>
            <a:pPr>
              <a:lnSpc>
                <a:spcPct val="91000"/>
              </a:lnSpc>
              <a:spcAft>
                <a:spcPts val="12"/>
              </a:spcAft>
              <a:defRPr sz="919">
                <a:solidFill>
                  <a:srgbClr val="222B39"/>
                </a:solidFill>
                <a:latin typeface="Noto Sans CJK SC"/>
              </a:defRPr>
            </a:pPr>
            <a:r>
              <a:t>• 支持 Web、文件、离线流式和实时流式</a:t>
            </a:r>
          </a:p>
          <a:p>
            <a:pPr>
              <a:lnSpc>
                <a:spcPct val="91000"/>
              </a:lnSpc>
              <a:spcAft>
                <a:spcPts val="12"/>
              </a:spcAft>
              <a:defRPr sz="919">
                <a:solidFill>
                  <a:srgbClr val="222B39"/>
                </a:solidFill>
                <a:latin typeface="Noto Sans CJK SC"/>
              </a:defRPr>
            </a:pPr>
            <a:r>
              <a:t>• ASR 与 Refiner 可独立持续运行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86784" y="4050791"/>
            <a:ext cx="3511296" cy="1234440"/>
          </a:xfrm>
          <a:prstGeom prst="roundRect">
            <a:avLst>
              <a:gd name="adj" fmla="val 12000"/>
            </a:avLst>
          </a:prstGeom>
          <a:solidFill>
            <a:srgbClr val="FFF6EB"/>
          </a:solidFill>
          <a:ln>
            <a:solidFill>
              <a:srgbClr val="FF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33088" y="4169663"/>
            <a:ext cx="32186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E28536"/>
                </a:solidFill>
                <a:latin typeface="Noto Sans CJK SC"/>
              </a:rPr>
              <a:t>精修调度控制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23944" y="4434840"/>
            <a:ext cx="3236976" cy="7955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91000"/>
              </a:lnSpc>
              <a:spcAft>
                <a:spcPts val="12"/>
              </a:spcAft>
              <a:defRPr sz="919">
                <a:solidFill>
                  <a:srgbClr val="222B39"/>
                </a:solidFill>
                <a:latin typeface="Noto Sans CJK SC"/>
              </a:defRPr>
            </a:pPr>
            <a:r>
              <a:t>• 增加 off / conservative / tri_state 门控</a:t>
            </a:r>
          </a:p>
          <a:p>
            <a:pPr>
              <a:lnSpc>
                <a:spcPct val="91000"/>
              </a:lnSpc>
              <a:spcAft>
                <a:spcPts val="12"/>
              </a:spcAft>
              <a:defRPr sz="919">
                <a:solidFill>
                  <a:srgbClr val="222B39"/>
                </a:solidFill>
                <a:latin typeface="Noto Sans CJK SC"/>
              </a:defRPr>
            </a:pPr>
            <a:r>
              <a:t>• KEEP / DEFER / REFINE 三状态</a:t>
            </a:r>
          </a:p>
          <a:p>
            <a:pPr>
              <a:lnSpc>
                <a:spcPct val="91000"/>
              </a:lnSpc>
              <a:spcAft>
                <a:spcPts val="12"/>
              </a:spcAft>
              <a:defRPr sz="919">
                <a:solidFill>
                  <a:srgbClr val="222B39"/>
                </a:solidFill>
                <a:latin typeface="Noto Sans CJK SC"/>
              </a:defRPr>
            </a:pPr>
            <a:r>
              <a:t>• 窗口聚合后统一复核，减少跨窗口错断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44383" y="4050791"/>
            <a:ext cx="3730752" cy="1234440"/>
          </a:xfrm>
          <a:prstGeom prst="roundRect">
            <a:avLst>
              <a:gd name="adj" fmla="val 12000"/>
            </a:avLst>
          </a:prstGeom>
          <a:solidFill>
            <a:srgbClr val="F2F4FA"/>
          </a:solidFill>
          <a:ln>
            <a:solidFill>
              <a:srgbClr val="F2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0688" y="4169663"/>
            <a:ext cx="343814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193052"/>
                </a:solidFill>
                <a:latin typeface="Noto Sans CJK SC"/>
              </a:rPr>
              <a:t>安全与可审计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1544" y="4434840"/>
            <a:ext cx="3456432" cy="7955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91000"/>
              </a:lnSpc>
              <a:spcAft>
                <a:spcPts val="12"/>
              </a:spcAft>
              <a:defRPr sz="919">
                <a:solidFill>
                  <a:srgbClr val="222B39"/>
                </a:solidFill>
                <a:latin typeface="Noto Sans CJK SC"/>
              </a:defRPr>
            </a:pPr>
            <a:r>
              <a:t>• 数字、量词、成语、标点和内容完整性校验</a:t>
            </a:r>
          </a:p>
          <a:p>
            <a:pPr>
              <a:lnSpc>
                <a:spcPct val="91000"/>
              </a:lnSpc>
              <a:spcAft>
                <a:spcPts val="12"/>
              </a:spcAft>
              <a:defRPr sz="919">
                <a:solidFill>
                  <a:srgbClr val="222B39"/>
                </a:solidFill>
                <a:latin typeface="Noto Sans CJK SC"/>
              </a:defRPr>
            </a:pPr>
            <a:r>
              <a:t>• 结构化 JSON 局部修改</a:t>
            </a:r>
          </a:p>
          <a:p>
            <a:pPr>
              <a:lnSpc>
                <a:spcPct val="91000"/>
              </a:lnSpc>
              <a:spcAft>
                <a:spcPts val="12"/>
              </a:spcAft>
              <a:defRPr sz="919">
                <a:solidFill>
                  <a:srgbClr val="222B39"/>
                </a:solidFill>
                <a:latin typeface="Noto Sans CJK SC"/>
              </a:defRPr>
            </a:pPr>
            <a:r>
              <a:t>• 失败重试、回退和 JSONL 审计日志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" y="6236208"/>
            <a:ext cx="11009376" cy="384048"/>
          </a:xfrm>
          <a:prstGeom prst="roundRect">
            <a:avLst>
              <a:gd name="adj" fmla="val 12000"/>
            </a:avLst>
          </a:prstGeom>
          <a:solidFill>
            <a:srgbClr val="193052"/>
          </a:solidFill>
          <a:ln>
            <a:solidFill>
              <a:srgbClr val="19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6309360"/>
            <a:ext cx="105613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FFFFFF"/>
                </a:solidFill>
                <a:latin typeface="Noto Sans CJK SC"/>
              </a:rPr>
              <a:t>核心变化：从“模型直接改文本”转向“模型精修 + 实体保护 + 多层校验”。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3840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870CD"/>
                </a:solidFill>
                <a:latin typeface="Noto Sans CJK SC"/>
              </a:rPr>
              <a:t>AGENTICASR · 问题与研究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6070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93052"/>
                </a:solidFill>
                <a:latin typeface="Noto Sans CJK SC"/>
              </a:rPr>
              <a:t>改造后的问题与原因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2412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16E80"/>
                </a:solidFill>
                <a:latin typeface="Noto Sans CJK SC"/>
              </a:rPr>
              <a:t>功能覆盖提升，但模块耦合、判断不稳定和处理成本也随之增加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54480"/>
            <a:ext cx="11018520" cy="22860"/>
          </a:xfrm>
          <a:prstGeom prst="rect">
            <a:avLst/>
          </a:prstGeom>
          <a:solidFill>
            <a:srgbClr val="2870CD"/>
          </a:solidFill>
          <a:ln>
            <a:solidFill>
              <a:srgbClr val="287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384048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616E80"/>
                </a:solidFill>
                <a:latin typeface="Noto Sans CJK SC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1874519"/>
            <a:ext cx="525780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1874519"/>
            <a:ext cx="5257800" cy="54864"/>
          </a:xfrm>
          <a:prstGeom prst="rect">
            <a:avLst/>
          </a:prstGeom>
          <a:solidFill>
            <a:srgbClr val="C44B4F"/>
          </a:solidFill>
          <a:ln>
            <a:solidFill>
              <a:srgbClr val="C44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039112"/>
            <a:ext cx="492861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Noto Sans CJK SC"/>
              </a:rPr>
              <a:t>当前暴露的问题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68296"/>
            <a:ext cx="492861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16E80"/>
                </a:solidFill>
                <a:latin typeface="Noto Sans CJK SC"/>
              </a:rPr>
              <a:t>当前回归与日志中反复出现的问题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633472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44B4F"/>
                </a:solidFill>
                <a:latin typeface="Noto Sans CJK SC"/>
              </a:rPr>
              <a:t>叠字漏修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6231" y="2633472"/>
            <a:ext cx="36393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222B39"/>
                </a:solidFill>
                <a:latin typeface="Noto Sans CJK SC"/>
              </a:rPr>
              <a:t>正常叠词与口吃叠字难以区分，部分重复未清除，模型判断也可能不一致。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346704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44B4F"/>
                </a:solidFill>
                <a:latin typeface="Noto Sans CJK SC"/>
              </a:rPr>
              <a:t>断句错位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1" y="3346704"/>
            <a:ext cx="36393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222B39"/>
                </a:solidFill>
                <a:latin typeface="Noto Sans CJK SC"/>
              </a:rPr>
              <a:t>句号、逗号位置仍可能错误，导致句子被拆开或多个句子发生粘连。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059936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44B4F"/>
                </a:solidFill>
                <a:latin typeface="Noto Sans CJK SC"/>
              </a:rPr>
              <a:t>保护与修正冲突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56231" y="4059936"/>
            <a:ext cx="36393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222B39"/>
                </a:solidFill>
                <a:latin typeface="Noto Sans CJK SC"/>
              </a:rPr>
              <a:t>实体、数字、成语保护和 tri_state 门控可能阻止模型的正确修改。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773168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44B4F"/>
                </a:solidFill>
                <a:latin typeface="Noto Sans CJK SC"/>
              </a:rPr>
              <a:t>成本增加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6231" y="4773168"/>
            <a:ext cx="36393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>
                <a:solidFill>
                  <a:srgbClr val="222B39"/>
                </a:solidFill>
                <a:latin typeface="Noto Sans CJK SC"/>
              </a:rPr>
              <a:t>局部复核带来额外 GPU 调用；模型格式异常时会触发回退。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1874519"/>
            <a:ext cx="5522976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1616" y="1874519"/>
            <a:ext cx="5522976" cy="54864"/>
          </a:xfrm>
          <a:prstGeom prst="rect">
            <a:avLst/>
          </a:prstGeom>
          <a:solidFill>
            <a:srgbClr val="1A948B"/>
          </a:solidFill>
          <a:ln>
            <a:solidFill>
              <a:srgbClr val="1A9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7" y="2039112"/>
            <a:ext cx="5193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93052"/>
                </a:solidFill>
                <a:latin typeface="Noto Sans CJK SC"/>
              </a:rPr>
              <a:t>问题成因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7" y="2368296"/>
            <a:ext cx="519379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16E80"/>
                </a:solidFill>
                <a:latin typeface="Noto Sans CJK SC"/>
              </a:rPr>
              <a:t>当前问题主要来自模型歧义与多模块协同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45936" y="2596896"/>
            <a:ext cx="384048" cy="256032"/>
          </a:xfrm>
          <a:prstGeom prst="roundRect">
            <a:avLst>
              <a:gd name="adj" fmla="val 12000"/>
            </a:avLst>
          </a:prstGeom>
          <a:solidFill>
            <a:srgbClr val="EBF9F7"/>
          </a:solidFill>
          <a:ln>
            <a:solidFill>
              <a:srgbClr val="EBF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2596896"/>
            <a:ext cx="38404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1A948B"/>
                </a:solidFill>
                <a:latin typeface="Noto Sans CJK SC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578608"/>
            <a:ext cx="1188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93052"/>
                </a:solidFill>
                <a:latin typeface="Noto Sans CJK SC"/>
              </a:rPr>
              <a:t>上下文不足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578608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222B39"/>
                </a:solidFill>
                <a:latin typeface="Noto Sans CJK SC"/>
              </a:rPr>
              <a:t>流式窗口只提供局部上下文，叠字和句子边界缺少完整语义。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45936" y="3200400"/>
            <a:ext cx="384048" cy="256032"/>
          </a:xfrm>
          <a:prstGeom prst="roundRect">
            <a:avLst>
              <a:gd name="adj" fmla="val 12000"/>
            </a:avLst>
          </a:prstGeom>
          <a:solidFill>
            <a:srgbClr val="EBF9F7"/>
          </a:solidFill>
          <a:ln>
            <a:solidFill>
              <a:srgbClr val="EBF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3200400"/>
            <a:ext cx="38404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1A948B"/>
                </a:solidFill>
                <a:latin typeface="Noto Sans CJK SC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182112"/>
            <a:ext cx="1188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93052"/>
                </a:solidFill>
                <a:latin typeface="Noto Sans CJK SC"/>
              </a:rPr>
              <a:t>模块耦合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182112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222B39"/>
                </a:solidFill>
                <a:latin typeface="Noto Sans CJK SC"/>
              </a:rPr>
              <a:t>VAD、ASR 分段、窗口聚合和标点恢复会相互影响。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45936" y="3803903"/>
            <a:ext cx="384048" cy="256032"/>
          </a:xfrm>
          <a:prstGeom prst="roundRect">
            <a:avLst>
              <a:gd name="adj" fmla="val 12000"/>
            </a:avLst>
          </a:prstGeom>
          <a:solidFill>
            <a:srgbClr val="EBF9F7"/>
          </a:solidFill>
          <a:ln>
            <a:solidFill>
              <a:srgbClr val="EBF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5936" y="3803903"/>
            <a:ext cx="38404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1A948B"/>
                </a:solidFill>
                <a:latin typeface="Noto Sans CJK SC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785615"/>
            <a:ext cx="1188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93052"/>
                </a:solidFill>
                <a:latin typeface="Noto Sans CJK SC"/>
              </a:rPr>
              <a:t>语义有歧义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785615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222B39"/>
                </a:solidFill>
                <a:latin typeface="Noto Sans CJK SC"/>
              </a:rPr>
              <a:t>同样的重复形式可能是正常词语，也可能是口吃或重复起句。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45936" y="4407407"/>
            <a:ext cx="384048" cy="256032"/>
          </a:xfrm>
          <a:prstGeom prst="roundRect">
            <a:avLst>
              <a:gd name="adj" fmla="val 12000"/>
            </a:avLst>
          </a:prstGeom>
          <a:solidFill>
            <a:srgbClr val="EBF9F7"/>
          </a:solidFill>
          <a:ln>
            <a:solidFill>
              <a:srgbClr val="EBF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5936" y="4407407"/>
            <a:ext cx="38404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1A948B"/>
                </a:solidFill>
                <a:latin typeface="Noto Sans CJK SC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389120"/>
            <a:ext cx="1188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93052"/>
                </a:solidFill>
                <a:latin typeface="Noto Sans CJK SC"/>
              </a:rPr>
              <a:t>校验偏保守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4389120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222B39"/>
                </a:solidFill>
                <a:latin typeface="Noto Sans CJK SC"/>
              </a:rPr>
              <a:t>保护和安全校验拒绝高风险修改时，会同时造成部分漏修。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45936" y="5010912"/>
            <a:ext cx="384048" cy="256032"/>
          </a:xfrm>
          <a:prstGeom prst="roundRect">
            <a:avLst>
              <a:gd name="adj" fmla="val 12000"/>
            </a:avLst>
          </a:prstGeom>
          <a:solidFill>
            <a:srgbClr val="EBF9F7"/>
          </a:solidFill>
          <a:ln>
            <a:solidFill>
              <a:srgbClr val="EBF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5010912"/>
            <a:ext cx="384048" cy="2286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30" b="1">
                <a:solidFill>
                  <a:srgbClr val="1A948B"/>
                </a:solidFill>
                <a:latin typeface="Noto Sans CJK SC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992624"/>
            <a:ext cx="1188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193052"/>
                </a:solidFill>
                <a:latin typeface="Noto Sans CJK SC"/>
              </a:rPr>
              <a:t>协议不稳定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4992624"/>
            <a:ext cx="3246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222B39"/>
                </a:solidFill>
                <a:latin typeface="Noto Sans CJK SC"/>
              </a:rPr>
              <a:t>模型偶尔不按结构化格式返回，导致重试或回退。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5216" y="6236208"/>
            <a:ext cx="11009376" cy="384048"/>
          </a:xfrm>
          <a:prstGeom prst="roundRect">
            <a:avLst>
              <a:gd name="adj" fmla="val 12000"/>
            </a:avLst>
          </a:prstGeom>
          <a:solidFill>
            <a:srgbClr val="1A948B"/>
          </a:solidFill>
          <a:ln>
            <a:solidFill>
              <a:srgbClr val="1A9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6309360"/>
            <a:ext cx="105613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SC"/>
              </a:rPr>
              <a:t>当前结论：系统的安全性和可控性提升了，但精修准确率仍受到上下文、规则和模型稳定性的共同影响。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AgenticASR 相对原版的改进与问题</dc:title>
  <dc:subject>两页项目进展汇报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